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264" y="-22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svg"/><Relationship Id="rId7" Type="http://schemas.openxmlformats.org/officeDocument/2006/relationships/image" Target="../media/image19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7.svg"/><Relationship Id="rId10" Type="http://schemas.openxmlformats.org/officeDocument/2006/relationships/image" Target="../media/image22.jpg"/><Relationship Id="rId4" Type="http://schemas.openxmlformats.org/officeDocument/2006/relationships/image" Target="../media/image6.png"/><Relationship Id="rId9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svg"/><Relationship Id="rId7" Type="http://schemas.openxmlformats.org/officeDocument/2006/relationships/image" Target="../media/image19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7.svg"/><Relationship Id="rId10" Type="http://schemas.openxmlformats.org/officeDocument/2006/relationships/image" Target="../media/image23.png"/><Relationship Id="rId4" Type="http://schemas.openxmlformats.org/officeDocument/2006/relationships/image" Target="../media/image6.png"/><Relationship Id="rId9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13.svg"/><Relationship Id="rId5" Type="http://schemas.openxmlformats.org/officeDocument/2006/relationships/image" Target="../media/image31.png"/><Relationship Id="rId10" Type="http://schemas.openxmlformats.org/officeDocument/2006/relationships/image" Target="../media/image12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0358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4667250"/>
            <a:ext cx="4914900" cy="12608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8311" y="277975"/>
            <a:ext cx="6523002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sz="1500" b="1" i="0" u="none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i="0" u="none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sz="1500" b="1" i="0" u="none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i="0" u="none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sz="1500" b="1" i="0" u="none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i="0" u="none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b="1" i="0" u="none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i="0" u="none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sz="1500" b="1" i="0" u="none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i="0" u="none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500" b="1" i="0" u="none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i="0" u="none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sz="1500" b="1" i="0" u="none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i="0" u="none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sz="1500" b="1" i="0" u="none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i="0" u="none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TRÀ</a:t>
            </a:r>
            <a:r>
              <a:rPr sz="1500" b="1" i="0" u="none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25794" y="2327222"/>
            <a:ext cx="6523002" cy="11629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3600" b="1" i="0" u="none" dirty="0" err="1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sz="3600" b="1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i="0" u="none" dirty="0" err="1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sz="3600" b="1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i="0" u="none" dirty="0" err="1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sz="3600" b="1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i="0" u="none" dirty="0" err="1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360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sz="3600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sz="3600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ASP.NET</a:t>
            </a:r>
            <a:endParaRPr sz="3600" b="1" i="0" u="none" dirty="0">
              <a:solidFill>
                <a:srgbClr val="38BDF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67570" y="3838575"/>
            <a:ext cx="652300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sz="2100" b="1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1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sz="2100" b="1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100" b="1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sz="2100" b="1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1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sz="2100" b="1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website Nghe </a:t>
            </a:r>
            <a:r>
              <a:rPr sz="2100" b="1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r>
              <a:rPr sz="2100" b="1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1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sz="2100" b="1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1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endParaRPr sz="2100" b="1" i="0" u="none" dirty="0">
              <a:solidFill>
                <a:srgbClr val="BAE6F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62425" y="4905375"/>
            <a:ext cx="3914775" cy="2996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GVHD: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Nhứt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2425" y="5354835"/>
            <a:ext cx="3914775" cy="2996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 err="1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SVTH</a:t>
            </a:r>
            <a:r>
              <a:rPr sz="1650" b="1" i="0" u="none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Võ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Thiên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(170125155)</a:t>
            </a:r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EDE4AD5F-DD95-0FD3-A0FC-BB011F000EF3}"/>
              </a:ext>
            </a:extLst>
          </p:cNvPr>
          <p:cNvSpPr/>
          <p:nvPr/>
        </p:nvSpPr>
        <p:spPr>
          <a:xfrm rot="-2700000">
            <a:off x="4131893" y="1898559"/>
            <a:ext cx="9564878" cy="3124048"/>
          </a:xfrm>
          <a:custGeom>
            <a:avLst/>
            <a:gdLst/>
            <a:ahLst/>
            <a:cxnLst/>
            <a:rect l="l" t="t" r="r" b="b"/>
            <a:pathLst>
              <a:path w="16909587" h="6118196">
                <a:moveTo>
                  <a:pt x="0" y="0"/>
                </a:moveTo>
                <a:lnTo>
                  <a:pt x="16909587" y="0"/>
                </a:lnTo>
                <a:lnTo>
                  <a:pt x="16909587" y="6118196"/>
                </a:lnTo>
                <a:lnTo>
                  <a:pt x="0" y="6118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C2D7F8-3FCE-A92D-274F-52842A8FB2F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4843" y="1109480"/>
            <a:ext cx="1082311" cy="1082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0358" cy="6858000"/>
          </a:xfrm>
          <a:prstGeom prst="rect">
            <a:avLst/>
          </a:prstGeom>
        </p:spPr>
      </p:pic>
      <p:sp>
        <p:nvSpPr>
          <p:cNvPr id="10" name="Freeform 3">
            <a:extLst>
              <a:ext uri="{FF2B5EF4-FFF2-40B4-BE49-F238E27FC236}">
                <a16:creationId xmlns:a16="http://schemas.microsoft.com/office/drawing/2014/main" id="{EDE4AD5F-DD95-0FD3-A0FC-BB011F000EF3}"/>
              </a:ext>
            </a:extLst>
          </p:cNvPr>
          <p:cNvSpPr/>
          <p:nvPr/>
        </p:nvSpPr>
        <p:spPr>
          <a:xfrm rot="-2700000">
            <a:off x="4131893" y="1898559"/>
            <a:ext cx="9564878" cy="3124048"/>
          </a:xfrm>
          <a:custGeom>
            <a:avLst/>
            <a:gdLst/>
            <a:ahLst/>
            <a:cxnLst/>
            <a:rect l="l" t="t" r="r" b="b"/>
            <a:pathLst>
              <a:path w="16909587" h="6118196">
                <a:moveTo>
                  <a:pt x="0" y="0"/>
                </a:moveTo>
                <a:lnTo>
                  <a:pt x="16909587" y="0"/>
                </a:lnTo>
                <a:lnTo>
                  <a:pt x="16909587" y="6118196"/>
                </a:lnTo>
                <a:lnTo>
                  <a:pt x="0" y="61181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209CC7-0740-03AC-94FC-4347193DD228}"/>
              </a:ext>
            </a:extLst>
          </p:cNvPr>
          <p:cNvSpPr txBox="1"/>
          <p:nvPr/>
        </p:nvSpPr>
        <p:spPr>
          <a:xfrm>
            <a:off x="1785501" y="792307"/>
            <a:ext cx="8406988" cy="1084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5250" b="1" i="0" u="none" dirty="0" err="1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sz="5250" b="1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250" b="1" i="0" u="none" dirty="0" err="1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5250" b="1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250" b="1" i="0" u="none" dirty="0" err="1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sz="5250" b="1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endParaRPr sz="5250" b="1" i="0" u="none" dirty="0">
              <a:solidFill>
                <a:srgbClr val="38BDF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E4918B-6345-D585-AD03-96F4E22E8733}"/>
              </a:ext>
            </a:extLst>
          </p:cNvPr>
          <p:cNvSpPr txBox="1"/>
          <p:nvPr/>
        </p:nvSpPr>
        <p:spPr>
          <a:xfrm>
            <a:off x="1982152" y="2697394"/>
            <a:ext cx="78427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 </a:t>
            </a:r>
            <a:r>
              <a:rPr lang="en-US" b="0" i="0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b="0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b="0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biết ơn sâu sắc tới </a:t>
            </a:r>
            <a:r>
              <a:rPr lang="en-US" b="1" i="0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thầy</a:t>
            </a:r>
            <a:r>
              <a:rPr lang="en-US" b="1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b="1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Nhứt</a:t>
            </a:r>
            <a:r>
              <a:rPr lang="en-US" b="1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Lam </a:t>
            </a:r>
            <a:r>
              <a:rPr lang="vi-VN" b="0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đã dành nhiều thời gian, chỉ dạy nhiệt tình và định hướng tận tâm để </a:t>
            </a:r>
            <a:r>
              <a:rPr lang="en-US" b="0" i="0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b="0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b="0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b="0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b="0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hoàn thiện báo cáo đồ án trọn vẹn.</a:t>
            </a:r>
            <a:endParaRPr lang="en-US" b="0" i="0" dirty="0">
              <a:solidFill>
                <a:schemeClr val="bg1">
                  <a:lumMod val="9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b="0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Cảm ơn sự hỗ trợ từ bạn bè và chân thành lắng nghe những </a:t>
            </a:r>
            <a:r>
              <a:rPr lang="vi-VN" b="1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ý kiến đóng góp quý báu</a:t>
            </a:r>
            <a:r>
              <a:rPr lang="vi-VN" b="0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từ Quý Thầy Cô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vi-VN" b="0" i="0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ể đề tài ngày càng hoàn thiện hơn.</a:t>
            </a:r>
            <a:endParaRPr lang="en-US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837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541"/>
            <a:ext cx="1219035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92505" y="1716434"/>
            <a:ext cx="8406988" cy="1615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 dirty="0" err="1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sz="5250" b="1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525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sz="5250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QUAN </a:t>
            </a:r>
            <a:r>
              <a:rPr sz="525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sz="5250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25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sz="5250" b="1" i="0" u="none" dirty="0">
              <a:solidFill>
                <a:srgbClr val="38BDF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 flipV="1">
            <a:off x="5135393" y="3525740"/>
            <a:ext cx="2082530" cy="967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51991" y="4366408"/>
            <a:ext cx="6100571" cy="397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3200" b="0" i="0" u="none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3200" b="0" i="0" u="none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ý do </a:t>
            </a:r>
            <a:r>
              <a:rPr sz="3200" b="0" i="0" u="none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sz="3200" b="0" i="0" u="none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u="none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sz="3200" b="0" i="0" u="none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u="none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sz="3200" b="0" i="0" u="none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u="none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3200" b="0" i="0" u="none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0" i="0" u="none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3200" b="0" i="0" u="none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ục</a:t>
            </a:r>
            <a:r>
              <a:rPr sz="3200" b="0" i="0" u="none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u="none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sz="3200" b="0" i="0" u="none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u="none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sz="3200" b="0" i="0" u="none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u="none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sz="3200" b="0" i="0" u="none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19">
            <a:extLst>
              <a:ext uri="{FF2B5EF4-FFF2-40B4-BE49-F238E27FC236}">
                <a16:creationId xmlns:a16="http://schemas.microsoft.com/office/drawing/2014/main" id="{6EC87B6A-93AD-2CB3-AF90-C677BE054718}"/>
              </a:ext>
            </a:extLst>
          </p:cNvPr>
          <p:cNvSpPr/>
          <p:nvPr/>
        </p:nvSpPr>
        <p:spPr>
          <a:xfrm rot="2159446">
            <a:off x="9528488" y="-1443879"/>
            <a:ext cx="5743550" cy="3860460"/>
          </a:xfrm>
          <a:custGeom>
            <a:avLst/>
            <a:gdLst/>
            <a:ahLst/>
            <a:cxnLst/>
            <a:rect l="l" t="t" r="r" b="b"/>
            <a:pathLst>
              <a:path w="7814506" h="6308438">
                <a:moveTo>
                  <a:pt x="0" y="0"/>
                </a:moveTo>
                <a:lnTo>
                  <a:pt x="7814506" y="0"/>
                </a:lnTo>
                <a:lnTo>
                  <a:pt x="7814506" y="6308437"/>
                </a:lnTo>
                <a:lnTo>
                  <a:pt x="0" y="6308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2F9412E-6982-DDA0-38ED-89E10F5C651F}"/>
              </a:ext>
            </a:extLst>
          </p:cNvPr>
          <p:cNvSpPr/>
          <p:nvPr/>
        </p:nvSpPr>
        <p:spPr>
          <a:xfrm rot="543904">
            <a:off x="-221344" y="5243697"/>
            <a:ext cx="6585197" cy="3275530"/>
          </a:xfrm>
          <a:custGeom>
            <a:avLst/>
            <a:gdLst/>
            <a:ahLst/>
            <a:cxnLst/>
            <a:rect l="l" t="t" r="r" b="b"/>
            <a:pathLst>
              <a:path w="10103966" h="815665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21" y="0"/>
            <a:ext cx="12190358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92138"/>
            <a:ext cx="5286375" cy="510242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392138"/>
            <a:ext cx="5286375" cy="51024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1782663"/>
            <a:ext cx="4730591" cy="369332"/>
          </a:xfrm>
          <a:prstGeom prst="rect">
            <a:avLst/>
          </a:prstGeom>
          <a:noFill/>
        </p:spPr>
        <p:txBody>
          <a:bodyPr wrap="square" lIns="447675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 do </a:t>
            </a:r>
            <a:r>
              <a:rPr sz="2400" b="1" i="0" u="none" dirty="0" err="1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sz="2400" b="1" i="0" u="none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0" u="none" dirty="0" err="1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sz="2400" b="1" i="0" u="none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0" u="none" dirty="0" err="1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sz="2400" b="1" i="0" u="none" dirty="0">
              <a:solidFill>
                <a:srgbClr val="7DD3F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2025" y="2430363"/>
            <a:ext cx="4505325" cy="971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mẽ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Internet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tựa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tỏa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căng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thẳng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913882"/>
            <a:ext cx="4505325" cy="966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Nhu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thưởng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đòi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1782663"/>
            <a:ext cx="4730591" cy="369332"/>
          </a:xfrm>
          <a:prstGeom prst="rect">
            <a:avLst/>
          </a:prstGeom>
          <a:noFill/>
        </p:spPr>
        <p:txBody>
          <a:bodyPr wrap="square" lIns="447675" tIns="0" rIns="0" bIns="0" anchor="t">
            <a:spAutoFit/>
          </a:bodyPr>
          <a:lstStyle/>
          <a:p>
            <a:pPr algn="l"/>
            <a:r>
              <a:rPr sz="2400" b="0" i="0" u="none" dirty="0" err="1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sz="2400" b="0" i="0" u="none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u="none" dirty="0" err="1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sz="2400" b="0" i="0" u="none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u="none" dirty="0" err="1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sz="2400" b="0" i="0" u="none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u="none" dirty="0" err="1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sz="2400" b="0" i="0" u="none" dirty="0">
              <a:solidFill>
                <a:srgbClr val="7DD3F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24650" y="2430363"/>
            <a:ext cx="4505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Xây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dựng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một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website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nghe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nhạc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trực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tuyến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hoàn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chỉnh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trên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nền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tảng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ASP.NET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mang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lại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trải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nghiệm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mượt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mà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1849338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1849338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10400" y="3578721"/>
            <a:ext cx="42195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E2E8F0"/>
                </a:solidFill>
                <a:latin typeface="Inter"/>
              </a:rPr>
              <a:t>Cung cấp kho nhạc đa dạng, dễ dàng tìm kiếm.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400" y="4420492"/>
            <a:ext cx="42195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E2E8F0"/>
                </a:solidFill>
                <a:latin typeface="Inter"/>
              </a:rPr>
              <a:t>Cho phép người dùng tạo và quản lý Playlist cá nhân.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0" y="5262264"/>
            <a:ext cx="42195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E2E8F0"/>
                </a:solidFill>
                <a:latin typeface="Inter"/>
              </a:rPr>
              <a:t>Hỗ trợ quản trị viên quản lý nội dung dễ dàng.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63438"/>
            <a:ext cx="11401425" cy="519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 Do &amp; </a:t>
            </a:r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endParaRPr sz="3375" b="1" i="0" u="none" dirty="0">
              <a:solidFill>
                <a:srgbClr val="38BDF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71500" y="363438"/>
            <a:ext cx="57150" cy="6477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650" y="3597771"/>
            <a:ext cx="180975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650" y="4439542"/>
            <a:ext cx="180975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650" y="5281314"/>
            <a:ext cx="180975" cy="219075"/>
          </a:xfrm>
          <a:prstGeom prst="rect">
            <a:avLst/>
          </a:prstGeom>
        </p:spPr>
      </p:pic>
      <p:sp>
        <p:nvSpPr>
          <p:cNvPr id="20" name="Freeform 9">
            <a:extLst>
              <a:ext uri="{FF2B5EF4-FFF2-40B4-BE49-F238E27FC236}">
                <a16:creationId xmlns:a16="http://schemas.microsoft.com/office/drawing/2014/main" id="{C61CDBCB-5AC2-514D-22D4-330DFE727E72}"/>
              </a:ext>
            </a:extLst>
          </p:cNvPr>
          <p:cNvSpPr/>
          <p:nvPr/>
        </p:nvSpPr>
        <p:spPr>
          <a:xfrm rot="3301940">
            <a:off x="-1192005" y="5527920"/>
            <a:ext cx="3684722" cy="2629947"/>
          </a:xfrm>
          <a:custGeom>
            <a:avLst/>
            <a:gdLst/>
            <a:ahLst/>
            <a:cxnLst/>
            <a:rect l="l" t="t" r="r" b="b"/>
            <a:pathLst>
              <a:path w="7092618" h="4797189">
                <a:moveTo>
                  <a:pt x="0" y="0"/>
                </a:moveTo>
                <a:lnTo>
                  <a:pt x="7092618" y="0"/>
                </a:lnTo>
                <a:lnTo>
                  <a:pt x="7092618" y="4797189"/>
                </a:lnTo>
                <a:lnTo>
                  <a:pt x="0" y="47971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21" y="0"/>
            <a:ext cx="1219035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14252" y="1518344"/>
            <a:ext cx="7963495" cy="1615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 dirty="0" err="1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sz="5250" b="1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525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sz="5250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25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sz="5250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25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sz="5250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25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sz="5250" b="1" i="0" u="none" dirty="0">
              <a:solidFill>
                <a:srgbClr val="38BDF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37769" y="3400425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4547294"/>
            <a:ext cx="8064230" cy="7950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3200" b="0" i="0" u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32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u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sz="32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u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sz="32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3200" b="0" i="0" u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sz="32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u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tảng</a:t>
            </a:r>
            <a:r>
              <a:rPr sz="32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u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32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u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sz="32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u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sz="32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u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sz="32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u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32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u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32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u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sz="32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u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sz="32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u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sz="32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u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sz="32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i="0" u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sz="3200" b="0" i="0" u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19">
            <a:extLst>
              <a:ext uri="{FF2B5EF4-FFF2-40B4-BE49-F238E27FC236}">
                <a16:creationId xmlns:a16="http://schemas.microsoft.com/office/drawing/2014/main" id="{9F74CC7A-B0F1-9159-1DE1-1EDD7F5569A1}"/>
              </a:ext>
            </a:extLst>
          </p:cNvPr>
          <p:cNvSpPr/>
          <p:nvPr/>
        </p:nvSpPr>
        <p:spPr>
          <a:xfrm rot="2159446">
            <a:off x="9528488" y="-1443879"/>
            <a:ext cx="5743550" cy="3860460"/>
          </a:xfrm>
          <a:custGeom>
            <a:avLst/>
            <a:gdLst/>
            <a:ahLst/>
            <a:cxnLst/>
            <a:rect l="l" t="t" r="r" b="b"/>
            <a:pathLst>
              <a:path w="7814506" h="6308438">
                <a:moveTo>
                  <a:pt x="0" y="0"/>
                </a:moveTo>
                <a:lnTo>
                  <a:pt x="7814506" y="0"/>
                </a:lnTo>
                <a:lnTo>
                  <a:pt x="7814506" y="6308437"/>
                </a:lnTo>
                <a:lnTo>
                  <a:pt x="0" y="6308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0ACE522-9B50-97BB-7371-FA8C7B9160D6}"/>
              </a:ext>
            </a:extLst>
          </p:cNvPr>
          <p:cNvSpPr/>
          <p:nvPr/>
        </p:nvSpPr>
        <p:spPr>
          <a:xfrm rot="543904">
            <a:off x="-221344" y="5243697"/>
            <a:ext cx="6585197" cy="3275530"/>
          </a:xfrm>
          <a:custGeom>
            <a:avLst/>
            <a:gdLst/>
            <a:ahLst/>
            <a:cxnLst/>
            <a:rect l="l" t="t" r="r" b="b"/>
            <a:pathLst>
              <a:path w="10103966" h="815665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21" y="0"/>
            <a:ext cx="12190358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38002"/>
            <a:ext cx="5286375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638002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E2E8F0"/>
                </a:solidFill>
                <a:latin typeface="Inter"/>
              </a:rPr>
              <a:t>Hệ thống được phát triển dựa trên mô hình MVC (Model-View-Controller) đảm bảo tính mở rộng và dễ dàng bảo trì.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2881610"/>
            <a:ext cx="50006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E2E8F0"/>
                </a:solidFill>
                <a:latin typeface="Inter"/>
              </a:rPr>
              <a:t>Back-end:</a:t>
            </a:r>
            <a:r>
              <a:rPr sz="1650" b="0" i="0" u="none">
                <a:solidFill>
                  <a:srgbClr val="E2E8F0"/>
                </a:solidFill>
                <a:latin typeface="Inter"/>
              </a:rPr>
              <a:t> ASP.NET Framework, C#, LINQ để xử lý logic và truy vấn dữ liệu nhanh chóng.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723382"/>
            <a:ext cx="50006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E2E8F0"/>
                </a:solidFill>
                <a:latin typeface="Inter"/>
              </a:rPr>
              <a:t>Cơ sở dữ liệu:</a:t>
            </a:r>
            <a:r>
              <a:rPr sz="1650" b="0" i="0" u="none">
                <a:solidFill>
                  <a:srgbClr val="E2E8F0"/>
                </a:solidFill>
                <a:latin typeface="Inter"/>
              </a:rPr>
              <a:t> SQL Server đảm bảo lưu trữ an toàn thông tin tài khoản, bài hát, playlist.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4565153"/>
            <a:ext cx="50006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E2E8F0"/>
                </a:solidFill>
                <a:latin typeface="Inter"/>
              </a:rPr>
              <a:t>Front-end:</a:t>
            </a:r>
            <a:r>
              <a:rPr sz="1650" b="0" i="0" u="none">
                <a:solidFill>
                  <a:srgbClr val="E2E8F0"/>
                </a:solidFill>
                <a:latin typeface="Inter"/>
              </a:rPr>
              <a:t> HTML5, CSS3, JavaScript, Bootstrap, jQuery tạo giao diện tương tác, Responsive.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5406925"/>
            <a:ext cx="50006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E2E8F0"/>
                </a:solidFill>
                <a:latin typeface="Inter"/>
              </a:rPr>
              <a:t>Công cụ quản lý:</a:t>
            </a:r>
            <a:r>
              <a:rPr sz="1650" b="0" i="0" u="none">
                <a:solidFill>
                  <a:srgbClr val="E2E8F0"/>
                </a:solidFill>
                <a:latin typeface="Inter"/>
              </a:rPr>
              <a:t> Visual Studio 2022 (IDE), Git &amp; GitHub (Quản lý mã nguồn).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638002"/>
            <a:ext cx="5286375" cy="428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38BDF8"/>
                </a:solidFill>
                <a:latin typeface="Poppins SemiBold"/>
              </a:rPr>
              <a:t>Hệ Sinh Thái Công Nghệ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571500"/>
            <a:ext cx="57150" cy="6477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00660"/>
            <a:ext cx="180975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42432"/>
            <a:ext cx="180975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84203"/>
            <a:ext cx="180975" cy="2190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425975"/>
            <a:ext cx="180975" cy="219075"/>
          </a:xfrm>
          <a:prstGeom prst="rect">
            <a:avLst/>
          </a:prstGeom>
        </p:spPr>
      </p:pic>
      <p:sp>
        <p:nvSpPr>
          <p:cNvPr id="16" name="Freeform 9">
            <a:extLst>
              <a:ext uri="{FF2B5EF4-FFF2-40B4-BE49-F238E27FC236}">
                <a16:creationId xmlns:a16="http://schemas.microsoft.com/office/drawing/2014/main" id="{5FC6DFAE-0486-7654-4EA9-BD87C57F56E7}"/>
              </a:ext>
            </a:extLst>
          </p:cNvPr>
          <p:cNvSpPr/>
          <p:nvPr/>
        </p:nvSpPr>
        <p:spPr>
          <a:xfrm rot="3301940">
            <a:off x="-1192005" y="5527920"/>
            <a:ext cx="3684722" cy="2629947"/>
          </a:xfrm>
          <a:custGeom>
            <a:avLst/>
            <a:gdLst/>
            <a:ahLst/>
            <a:cxnLst/>
            <a:rect l="l" t="t" r="r" b="b"/>
            <a:pathLst>
              <a:path w="7092618" h="4797189">
                <a:moveTo>
                  <a:pt x="0" y="0"/>
                </a:moveTo>
                <a:lnTo>
                  <a:pt x="7092618" y="0"/>
                </a:lnTo>
                <a:lnTo>
                  <a:pt x="7092618" y="4797189"/>
                </a:lnTo>
                <a:lnTo>
                  <a:pt x="0" y="4797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21" y="0"/>
            <a:ext cx="1219035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93459" y="1716434"/>
            <a:ext cx="8204931" cy="1615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 dirty="0" err="1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sz="5250" b="1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525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sz="5250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25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sz="5250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sz="525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sz="5250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25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endParaRPr sz="5250" b="1" i="0" u="none" dirty="0">
              <a:solidFill>
                <a:srgbClr val="38BDF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524500" y="4307234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452687" y="4745384"/>
            <a:ext cx="7745703" cy="3702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24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sz="24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sz="24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sz="24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sz="24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sz="24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sz="24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sz="24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sz="24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24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sz="24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sz="24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sz="24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sz="2400" b="0" i="0" u="none" dirty="0">
              <a:solidFill>
                <a:srgbClr val="BAE6F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reeform 19">
            <a:extLst>
              <a:ext uri="{FF2B5EF4-FFF2-40B4-BE49-F238E27FC236}">
                <a16:creationId xmlns:a16="http://schemas.microsoft.com/office/drawing/2014/main" id="{0EA4F050-8334-E2EC-0143-F6022D8F44E9}"/>
              </a:ext>
            </a:extLst>
          </p:cNvPr>
          <p:cNvSpPr/>
          <p:nvPr/>
        </p:nvSpPr>
        <p:spPr>
          <a:xfrm rot="2159446">
            <a:off x="9528488" y="-1443879"/>
            <a:ext cx="5743550" cy="3860460"/>
          </a:xfrm>
          <a:custGeom>
            <a:avLst/>
            <a:gdLst/>
            <a:ahLst/>
            <a:cxnLst/>
            <a:rect l="l" t="t" r="r" b="b"/>
            <a:pathLst>
              <a:path w="7814506" h="6308438">
                <a:moveTo>
                  <a:pt x="0" y="0"/>
                </a:moveTo>
                <a:lnTo>
                  <a:pt x="7814506" y="0"/>
                </a:lnTo>
                <a:lnTo>
                  <a:pt x="7814506" y="6308437"/>
                </a:lnTo>
                <a:lnTo>
                  <a:pt x="0" y="6308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CDA8251F-7606-ECF9-4CED-87062E01716B}"/>
              </a:ext>
            </a:extLst>
          </p:cNvPr>
          <p:cNvSpPr/>
          <p:nvPr/>
        </p:nvSpPr>
        <p:spPr>
          <a:xfrm rot="543904">
            <a:off x="-221344" y="5243697"/>
            <a:ext cx="6585197" cy="3275530"/>
          </a:xfrm>
          <a:custGeom>
            <a:avLst/>
            <a:gdLst/>
            <a:ahLst/>
            <a:cxnLst/>
            <a:rect l="l" t="t" r="r" b="b"/>
            <a:pathLst>
              <a:path w="10103966" h="815665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1500" y="1800225"/>
            <a:ext cx="5286375" cy="966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tách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ràng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3385" y="2943466"/>
            <a:ext cx="5000625" cy="966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sz="1650" b="1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1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sz="1650" b="1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(User):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(Playlist)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1418" y="4166461"/>
            <a:ext cx="5000625" cy="966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sz="1650" b="1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1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sz="1650" b="1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(Admin):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Nắm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soát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web bao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hát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ca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sĩ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8405" y="148045"/>
            <a:ext cx="11401425" cy="519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Usecase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Quan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340" y="83881"/>
            <a:ext cx="57150" cy="6477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679905F2-D526-4632-8042-75C189926824}"/>
              </a:ext>
            </a:extLst>
          </p:cNvPr>
          <p:cNvSpPr/>
          <p:nvPr/>
        </p:nvSpPr>
        <p:spPr>
          <a:xfrm>
            <a:off x="34807" y="5659908"/>
            <a:ext cx="6830622" cy="4658909"/>
          </a:xfrm>
          <a:custGeom>
            <a:avLst/>
            <a:gdLst/>
            <a:ahLst/>
            <a:cxnLst/>
            <a:rect l="l" t="t" r="r" b="b"/>
            <a:pathLst>
              <a:path w="14103200" h="11385128">
                <a:moveTo>
                  <a:pt x="0" y="0"/>
                </a:moveTo>
                <a:lnTo>
                  <a:pt x="14103200" y="0"/>
                </a:lnTo>
                <a:lnTo>
                  <a:pt x="14103200" y="11385129"/>
                </a:lnTo>
                <a:lnTo>
                  <a:pt x="0" y="113851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AF350BFB-9C76-F2B5-66E2-B19D801012D4}"/>
              </a:ext>
            </a:extLst>
          </p:cNvPr>
          <p:cNvSpPr/>
          <p:nvPr/>
        </p:nvSpPr>
        <p:spPr>
          <a:xfrm>
            <a:off x="6945549" y="5476672"/>
            <a:ext cx="5854764" cy="5393270"/>
          </a:xfrm>
          <a:custGeom>
            <a:avLst/>
            <a:gdLst/>
            <a:ahLst/>
            <a:cxnLst/>
            <a:rect l="l" t="t" r="r" b="b"/>
            <a:pathLst>
              <a:path w="10761288" h="12152189">
                <a:moveTo>
                  <a:pt x="0" y="0"/>
                </a:moveTo>
                <a:lnTo>
                  <a:pt x="10761288" y="0"/>
                </a:lnTo>
                <a:lnTo>
                  <a:pt x="10761288" y="12152189"/>
                </a:lnTo>
                <a:lnTo>
                  <a:pt x="0" y="121521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9884"/>
            </a:stretch>
          </a:blipFill>
        </p:spPr>
      </p:sp>
      <p:sp>
        <p:nvSpPr>
          <p:cNvPr id="15" name="Freeform 23">
            <a:extLst>
              <a:ext uri="{FF2B5EF4-FFF2-40B4-BE49-F238E27FC236}">
                <a16:creationId xmlns:a16="http://schemas.microsoft.com/office/drawing/2014/main" id="{BD6E9FA6-8682-4E64-F43E-BDDD1DAF9885}"/>
              </a:ext>
            </a:extLst>
          </p:cNvPr>
          <p:cNvSpPr/>
          <p:nvPr/>
        </p:nvSpPr>
        <p:spPr>
          <a:xfrm>
            <a:off x="356112" y="3207636"/>
            <a:ext cx="502293" cy="502293"/>
          </a:xfrm>
          <a:custGeom>
            <a:avLst/>
            <a:gdLst/>
            <a:ahLst/>
            <a:cxnLst/>
            <a:rect l="l" t="t" r="r" b="b"/>
            <a:pathLst>
              <a:path w="669724" h="669724">
                <a:moveTo>
                  <a:pt x="0" y="0"/>
                </a:moveTo>
                <a:lnTo>
                  <a:pt x="669724" y="0"/>
                </a:lnTo>
                <a:lnTo>
                  <a:pt x="669724" y="669724"/>
                </a:lnTo>
                <a:lnTo>
                  <a:pt x="0" y="6697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6" name="Freeform 24">
            <a:extLst>
              <a:ext uri="{FF2B5EF4-FFF2-40B4-BE49-F238E27FC236}">
                <a16:creationId xmlns:a16="http://schemas.microsoft.com/office/drawing/2014/main" id="{ECF430FF-972C-28CF-D993-0F2EDD932E11}"/>
              </a:ext>
            </a:extLst>
          </p:cNvPr>
          <p:cNvSpPr/>
          <p:nvPr/>
        </p:nvSpPr>
        <p:spPr>
          <a:xfrm flipH="1">
            <a:off x="557057" y="3346431"/>
            <a:ext cx="135383" cy="224703"/>
          </a:xfrm>
          <a:custGeom>
            <a:avLst/>
            <a:gdLst/>
            <a:ahLst/>
            <a:cxnLst/>
            <a:rect l="l" t="t" r="r" b="b"/>
            <a:pathLst>
              <a:path w="180511" h="299604">
                <a:moveTo>
                  <a:pt x="180512" y="0"/>
                </a:moveTo>
                <a:lnTo>
                  <a:pt x="0" y="0"/>
                </a:lnTo>
                <a:lnTo>
                  <a:pt x="0" y="299604"/>
                </a:lnTo>
                <a:lnTo>
                  <a:pt x="180512" y="299604"/>
                </a:lnTo>
                <a:lnTo>
                  <a:pt x="18051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23">
            <a:extLst>
              <a:ext uri="{FF2B5EF4-FFF2-40B4-BE49-F238E27FC236}">
                <a16:creationId xmlns:a16="http://schemas.microsoft.com/office/drawing/2014/main" id="{F8FB3292-D254-755A-3331-15A2F97C00ED}"/>
              </a:ext>
            </a:extLst>
          </p:cNvPr>
          <p:cNvSpPr/>
          <p:nvPr/>
        </p:nvSpPr>
        <p:spPr>
          <a:xfrm>
            <a:off x="302863" y="4482103"/>
            <a:ext cx="502293" cy="502293"/>
          </a:xfrm>
          <a:custGeom>
            <a:avLst/>
            <a:gdLst/>
            <a:ahLst/>
            <a:cxnLst/>
            <a:rect l="l" t="t" r="r" b="b"/>
            <a:pathLst>
              <a:path w="669724" h="669724">
                <a:moveTo>
                  <a:pt x="0" y="0"/>
                </a:moveTo>
                <a:lnTo>
                  <a:pt x="669724" y="0"/>
                </a:lnTo>
                <a:lnTo>
                  <a:pt x="669724" y="669724"/>
                </a:lnTo>
                <a:lnTo>
                  <a:pt x="0" y="6697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8" name="Freeform 24">
            <a:extLst>
              <a:ext uri="{FF2B5EF4-FFF2-40B4-BE49-F238E27FC236}">
                <a16:creationId xmlns:a16="http://schemas.microsoft.com/office/drawing/2014/main" id="{827F658C-7CB8-B164-EEC6-B1763B252486}"/>
              </a:ext>
            </a:extLst>
          </p:cNvPr>
          <p:cNvSpPr/>
          <p:nvPr/>
        </p:nvSpPr>
        <p:spPr>
          <a:xfrm flipH="1">
            <a:off x="503808" y="4620898"/>
            <a:ext cx="135383" cy="224703"/>
          </a:xfrm>
          <a:custGeom>
            <a:avLst/>
            <a:gdLst/>
            <a:ahLst/>
            <a:cxnLst/>
            <a:rect l="l" t="t" r="r" b="b"/>
            <a:pathLst>
              <a:path w="180511" h="299604">
                <a:moveTo>
                  <a:pt x="180512" y="0"/>
                </a:moveTo>
                <a:lnTo>
                  <a:pt x="0" y="0"/>
                </a:lnTo>
                <a:lnTo>
                  <a:pt x="0" y="299604"/>
                </a:lnTo>
                <a:lnTo>
                  <a:pt x="180512" y="299604"/>
                </a:lnTo>
                <a:lnTo>
                  <a:pt x="18051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7FF2BD0-7A8A-8444-7C6C-2657EB7749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7876" y="0"/>
            <a:ext cx="6031262" cy="59366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1500" y="1800225"/>
            <a:ext cx="5286375" cy="6393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thiểu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dư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thừa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2613421"/>
            <a:ext cx="5000625" cy="6393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sz="1650" b="1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1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Nhac</a:t>
            </a:r>
            <a:r>
              <a:rPr sz="1650" b="1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Sĩ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455193"/>
            <a:ext cx="5000625" cy="6393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sz="1650" b="1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Account: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(Role)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4296965"/>
            <a:ext cx="5000625" cy="6393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sz="1650" b="1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Playlist: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N-N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(Account)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hát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Nhac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71500"/>
            <a:ext cx="11401425" cy="519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Lược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ERD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571500"/>
            <a:ext cx="57150" cy="6477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0DAD978B-20FA-01B0-E32E-D5CBD736164D}"/>
              </a:ext>
            </a:extLst>
          </p:cNvPr>
          <p:cNvSpPr/>
          <p:nvPr/>
        </p:nvSpPr>
        <p:spPr>
          <a:xfrm>
            <a:off x="34807" y="5659908"/>
            <a:ext cx="6830622" cy="4658909"/>
          </a:xfrm>
          <a:custGeom>
            <a:avLst/>
            <a:gdLst/>
            <a:ahLst/>
            <a:cxnLst/>
            <a:rect l="l" t="t" r="r" b="b"/>
            <a:pathLst>
              <a:path w="14103200" h="11385128">
                <a:moveTo>
                  <a:pt x="0" y="0"/>
                </a:moveTo>
                <a:lnTo>
                  <a:pt x="14103200" y="0"/>
                </a:lnTo>
                <a:lnTo>
                  <a:pt x="14103200" y="11385129"/>
                </a:lnTo>
                <a:lnTo>
                  <a:pt x="0" y="113851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4">
            <a:extLst>
              <a:ext uri="{FF2B5EF4-FFF2-40B4-BE49-F238E27FC236}">
                <a16:creationId xmlns:a16="http://schemas.microsoft.com/office/drawing/2014/main" id="{DA4F0269-BB80-824F-5DE1-767BF469C933}"/>
              </a:ext>
            </a:extLst>
          </p:cNvPr>
          <p:cNvSpPr/>
          <p:nvPr/>
        </p:nvSpPr>
        <p:spPr>
          <a:xfrm>
            <a:off x="6945549" y="5476672"/>
            <a:ext cx="5854764" cy="5393270"/>
          </a:xfrm>
          <a:custGeom>
            <a:avLst/>
            <a:gdLst/>
            <a:ahLst/>
            <a:cxnLst/>
            <a:rect l="l" t="t" r="r" b="b"/>
            <a:pathLst>
              <a:path w="10761288" h="12152189">
                <a:moveTo>
                  <a:pt x="0" y="0"/>
                </a:moveTo>
                <a:lnTo>
                  <a:pt x="10761288" y="0"/>
                </a:lnTo>
                <a:lnTo>
                  <a:pt x="10761288" y="12152189"/>
                </a:lnTo>
                <a:lnTo>
                  <a:pt x="0" y="121521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9884"/>
            </a:stretch>
          </a:blipFill>
        </p:spPr>
      </p:sp>
      <p:sp>
        <p:nvSpPr>
          <p:cNvPr id="16" name="Freeform 23">
            <a:extLst>
              <a:ext uri="{FF2B5EF4-FFF2-40B4-BE49-F238E27FC236}">
                <a16:creationId xmlns:a16="http://schemas.microsoft.com/office/drawing/2014/main" id="{4B765ED8-909A-E878-0F2D-DF21D3A19337}"/>
              </a:ext>
            </a:extLst>
          </p:cNvPr>
          <p:cNvSpPr/>
          <p:nvPr/>
        </p:nvSpPr>
        <p:spPr>
          <a:xfrm>
            <a:off x="302863" y="2614387"/>
            <a:ext cx="502293" cy="502293"/>
          </a:xfrm>
          <a:custGeom>
            <a:avLst/>
            <a:gdLst/>
            <a:ahLst/>
            <a:cxnLst/>
            <a:rect l="l" t="t" r="r" b="b"/>
            <a:pathLst>
              <a:path w="669724" h="669724">
                <a:moveTo>
                  <a:pt x="0" y="0"/>
                </a:moveTo>
                <a:lnTo>
                  <a:pt x="669724" y="0"/>
                </a:lnTo>
                <a:lnTo>
                  <a:pt x="669724" y="669724"/>
                </a:lnTo>
                <a:lnTo>
                  <a:pt x="0" y="6697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7" name="Freeform 24">
            <a:extLst>
              <a:ext uri="{FF2B5EF4-FFF2-40B4-BE49-F238E27FC236}">
                <a16:creationId xmlns:a16="http://schemas.microsoft.com/office/drawing/2014/main" id="{58AB2A19-AC0A-948D-8E6D-12664DBDD46F}"/>
              </a:ext>
            </a:extLst>
          </p:cNvPr>
          <p:cNvSpPr/>
          <p:nvPr/>
        </p:nvSpPr>
        <p:spPr>
          <a:xfrm flipH="1">
            <a:off x="503808" y="2753182"/>
            <a:ext cx="135383" cy="224703"/>
          </a:xfrm>
          <a:custGeom>
            <a:avLst/>
            <a:gdLst/>
            <a:ahLst/>
            <a:cxnLst/>
            <a:rect l="l" t="t" r="r" b="b"/>
            <a:pathLst>
              <a:path w="180511" h="299604">
                <a:moveTo>
                  <a:pt x="180512" y="0"/>
                </a:moveTo>
                <a:lnTo>
                  <a:pt x="0" y="0"/>
                </a:lnTo>
                <a:lnTo>
                  <a:pt x="0" y="299604"/>
                </a:lnTo>
                <a:lnTo>
                  <a:pt x="180512" y="299604"/>
                </a:lnTo>
                <a:lnTo>
                  <a:pt x="18051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23">
            <a:extLst>
              <a:ext uri="{FF2B5EF4-FFF2-40B4-BE49-F238E27FC236}">
                <a16:creationId xmlns:a16="http://schemas.microsoft.com/office/drawing/2014/main" id="{F477890B-D1EA-74E1-8D46-EECC2BA8637F}"/>
              </a:ext>
            </a:extLst>
          </p:cNvPr>
          <p:cNvSpPr/>
          <p:nvPr/>
        </p:nvSpPr>
        <p:spPr>
          <a:xfrm>
            <a:off x="270436" y="3457452"/>
            <a:ext cx="502293" cy="502293"/>
          </a:xfrm>
          <a:custGeom>
            <a:avLst/>
            <a:gdLst/>
            <a:ahLst/>
            <a:cxnLst/>
            <a:rect l="l" t="t" r="r" b="b"/>
            <a:pathLst>
              <a:path w="669724" h="669724">
                <a:moveTo>
                  <a:pt x="0" y="0"/>
                </a:moveTo>
                <a:lnTo>
                  <a:pt x="669724" y="0"/>
                </a:lnTo>
                <a:lnTo>
                  <a:pt x="669724" y="669724"/>
                </a:lnTo>
                <a:lnTo>
                  <a:pt x="0" y="6697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9" name="Freeform 24">
            <a:extLst>
              <a:ext uri="{FF2B5EF4-FFF2-40B4-BE49-F238E27FC236}">
                <a16:creationId xmlns:a16="http://schemas.microsoft.com/office/drawing/2014/main" id="{E221C86A-603F-3255-5633-544937E4E808}"/>
              </a:ext>
            </a:extLst>
          </p:cNvPr>
          <p:cNvSpPr/>
          <p:nvPr/>
        </p:nvSpPr>
        <p:spPr>
          <a:xfrm flipH="1">
            <a:off x="471381" y="3596247"/>
            <a:ext cx="135383" cy="224703"/>
          </a:xfrm>
          <a:custGeom>
            <a:avLst/>
            <a:gdLst/>
            <a:ahLst/>
            <a:cxnLst/>
            <a:rect l="l" t="t" r="r" b="b"/>
            <a:pathLst>
              <a:path w="180511" h="299604">
                <a:moveTo>
                  <a:pt x="180512" y="0"/>
                </a:moveTo>
                <a:lnTo>
                  <a:pt x="0" y="0"/>
                </a:lnTo>
                <a:lnTo>
                  <a:pt x="0" y="299604"/>
                </a:lnTo>
                <a:lnTo>
                  <a:pt x="180512" y="299604"/>
                </a:lnTo>
                <a:lnTo>
                  <a:pt x="18051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3">
            <a:extLst>
              <a:ext uri="{FF2B5EF4-FFF2-40B4-BE49-F238E27FC236}">
                <a16:creationId xmlns:a16="http://schemas.microsoft.com/office/drawing/2014/main" id="{732435BC-DEA7-9A87-0517-757D39E91E67}"/>
              </a:ext>
            </a:extLst>
          </p:cNvPr>
          <p:cNvSpPr/>
          <p:nvPr/>
        </p:nvSpPr>
        <p:spPr>
          <a:xfrm>
            <a:off x="250980" y="4381581"/>
            <a:ext cx="502293" cy="502293"/>
          </a:xfrm>
          <a:custGeom>
            <a:avLst/>
            <a:gdLst/>
            <a:ahLst/>
            <a:cxnLst/>
            <a:rect l="l" t="t" r="r" b="b"/>
            <a:pathLst>
              <a:path w="669724" h="669724">
                <a:moveTo>
                  <a:pt x="0" y="0"/>
                </a:moveTo>
                <a:lnTo>
                  <a:pt x="669724" y="0"/>
                </a:lnTo>
                <a:lnTo>
                  <a:pt x="669724" y="669724"/>
                </a:lnTo>
                <a:lnTo>
                  <a:pt x="0" y="6697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1" name="Freeform 24">
            <a:extLst>
              <a:ext uri="{FF2B5EF4-FFF2-40B4-BE49-F238E27FC236}">
                <a16:creationId xmlns:a16="http://schemas.microsoft.com/office/drawing/2014/main" id="{E3A2F841-4B11-2044-F1CC-66D34C77EADB}"/>
              </a:ext>
            </a:extLst>
          </p:cNvPr>
          <p:cNvSpPr/>
          <p:nvPr/>
        </p:nvSpPr>
        <p:spPr>
          <a:xfrm flipH="1">
            <a:off x="451925" y="4520376"/>
            <a:ext cx="135383" cy="224703"/>
          </a:xfrm>
          <a:custGeom>
            <a:avLst/>
            <a:gdLst/>
            <a:ahLst/>
            <a:cxnLst/>
            <a:rect l="l" t="t" r="r" b="b"/>
            <a:pathLst>
              <a:path w="180511" h="299604">
                <a:moveTo>
                  <a:pt x="180512" y="0"/>
                </a:moveTo>
                <a:lnTo>
                  <a:pt x="0" y="0"/>
                </a:lnTo>
                <a:lnTo>
                  <a:pt x="0" y="299604"/>
                </a:lnTo>
                <a:lnTo>
                  <a:pt x="180512" y="299604"/>
                </a:lnTo>
                <a:lnTo>
                  <a:pt x="18051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3759708-D15A-5761-AA6D-F710DC41F4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3272" y="1617951"/>
            <a:ext cx="6160153" cy="41812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21" y="0"/>
            <a:ext cx="1219035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3462" y="1716434"/>
            <a:ext cx="8164926" cy="1615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 dirty="0" err="1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sz="5250" b="1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r>
              <a:rPr dirty="0"/>
              <a:t>
</a:t>
            </a:r>
            <a:r>
              <a:rPr sz="525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sz="5250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25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sz="5250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GIAO </a:t>
            </a:r>
            <a:r>
              <a:rPr sz="525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endParaRPr sz="5250" b="1" i="0" u="none" dirty="0">
              <a:solidFill>
                <a:srgbClr val="38BDF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524500" y="4307234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81287" y="4745384"/>
            <a:ext cx="6829425" cy="7950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Trải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dành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User </a:t>
            </a: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Admin</a:t>
            </a:r>
          </a:p>
        </p:txBody>
      </p:sp>
      <p:sp>
        <p:nvSpPr>
          <p:cNvPr id="7" name="Freeform 19">
            <a:extLst>
              <a:ext uri="{FF2B5EF4-FFF2-40B4-BE49-F238E27FC236}">
                <a16:creationId xmlns:a16="http://schemas.microsoft.com/office/drawing/2014/main" id="{A1C6B4AF-3902-8672-F064-91C129FBC435}"/>
              </a:ext>
            </a:extLst>
          </p:cNvPr>
          <p:cNvSpPr/>
          <p:nvPr/>
        </p:nvSpPr>
        <p:spPr>
          <a:xfrm rot="2159446">
            <a:off x="9528488" y="-1443879"/>
            <a:ext cx="5743550" cy="3860460"/>
          </a:xfrm>
          <a:custGeom>
            <a:avLst/>
            <a:gdLst/>
            <a:ahLst/>
            <a:cxnLst/>
            <a:rect l="l" t="t" r="r" b="b"/>
            <a:pathLst>
              <a:path w="7814506" h="6308438">
                <a:moveTo>
                  <a:pt x="0" y="0"/>
                </a:moveTo>
                <a:lnTo>
                  <a:pt x="7814506" y="0"/>
                </a:lnTo>
                <a:lnTo>
                  <a:pt x="7814506" y="6308437"/>
                </a:lnTo>
                <a:lnTo>
                  <a:pt x="0" y="6308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727BA88D-AEFF-3877-A570-BF3038FFE1AA}"/>
              </a:ext>
            </a:extLst>
          </p:cNvPr>
          <p:cNvSpPr/>
          <p:nvPr/>
        </p:nvSpPr>
        <p:spPr>
          <a:xfrm rot="543904">
            <a:off x="-221344" y="5243697"/>
            <a:ext cx="6585197" cy="3275530"/>
          </a:xfrm>
          <a:custGeom>
            <a:avLst/>
            <a:gdLst/>
            <a:ahLst/>
            <a:cxnLst/>
            <a:rect l="l" t="t" r="r" b="b"/>
            <a:pathLst>
              <a:path w="10103966" h="815665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21" y="0"/>
            <a:ext cx="12190358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4809" y="798613"/>
            <a:ext cx="5200650" cy="519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Trải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endParaRPr sz="3375" b="1" i="0" u="none" dirty="0">
              <a:solidFill>
                <a:srgbClr val="38BDF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500" y="762000"/>
            <a:ext cx="57150" cy="647700"/>
          </a:xfrm>
          <a:prstGeom prst="rect">
            <a:avLst/>
          </a:prstGeom>
          <a:solid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1960661"/>
            <a:ext cx="52006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sz="2700" b="0" i="0" u="none" dirty="0" err="1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sz="2700" b="0" i="0" u="none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b="0" i="0" u="none" dirty="0" err="1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sz="2700" b="0" i="0" u="none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b="0" i="0" u="none" dirty="0" err="1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sz="2700" b="0" i="0" u="none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2700" b="0" i="0" u="none" dirty="0" err="1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sz="2700" b="0" i="0" u="none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b="0" i="0" u="none" dirty="0" err="1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endParaRPr sz="2700" b="0" i="0" u="none" dirty="0">
              <a:solidFill>
                <a:srgbClr val="7DD3F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500" y="3198911"/>
            <a:ext cx="4953000" cy="966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hứng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streaming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(Dark Mode)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mắt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nổi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30055"/>
            <a:ext cx="4953000" cy="966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trải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Playlist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hát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7E9DD3-05DD-C0BE-88C2-9A42DEA3B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418" y="1332689"/>
            <a:ext cx="5212274" cy="4832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Freeform 9">
            <a:extLst>
              <a:ext uri="{FF2B5EF4-FFF2-40B4-BE49-F238E27FC236}">
                <a16:creationId xmlns:a16="http://schemas.microsoft.com/office/drawing/2014/main" id="{4AD9CA7E-8B1A-5C97-4D1C-79C7C05B2577}"/>
              </a:ext>
            </a:extLst>
          </p:cNvPr>
          <p:cNvSpPr/>
          <p:nvPr/>
        </p:nvSpPr>
        <p:spPr>
          <a:xfrm rot="3301940">
            <a:off x="-1192005" y="5527920"/>
            <a:ext cx="3684722" cy="2629947"/>
          </a:xfrm>
          <a:custGeom>
            <a:avLst/>
            <a:gdLst/>
            <a:ahLst/>
            <a:cxnLst/>
            <a:rect l="l" t="t" r="r" b="b"/>
            <a:pathLst>
              <a:path w="7092618" h="4797189">
                <a:moveTo>
                  <a:pt x="0" y="0"/>
                </a:moveTo>
                <a:lnTo>
                  <a:pt x="7092618" y="0"/>
                </a:lnTo>
                <a:lnTo>
                  <a:pt x="7092618" y="4797189"/>
                </a:lnTo>
                <a:lnTo>
                  <a:pt x="0" y="47971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21" y="0"/>
            <a:ext cx="12190358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762000"/>
            <a:ext cx="520065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38BDF8"/>
                </a:solidFill>
                <a:latin typeface="Poppins SemiBold"/>
              </a:rPr>
              <a:t>Khám Phá Âm Nhạc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762000"/>
            <a:ext cx="57150" cy="647700"/>
          </a:xfrm>
          <a:prstGeom prst="rect">
            <a:avLst/>
          </a:prstGeom>
          <a:solid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2390179"/>
            <a:ext cx="52006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r>
              <a:rPr sz="2700" b="0" i="0" u="none" dirty="0" err="1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sz="2700" b="0" i="0" u="none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sz="2700" b="0" i="0" u="none" dirty="0" err="1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sz="2700" b="0" i="0" u="none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b="0" i="0" u="none" dirty="0" err="1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endParaRPr sz="2700" b="0" i="0" u="none" dirty="0">
              <a:solidFill>
                <a:srgbClr val="7DD3F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500" y="3104554"/>
            <a:ext cx="4953000" cy="966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(Layout)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ràng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Sidebar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Content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Thanh Player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00537"/>
            <a:ext cx="4953000" cy="966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nổi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chóng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EB1F47-6970-77DD-E5D9-C8E5CD661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1188" y="84260"/>
            <a:ext cx="3940662" cy="677374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1263ACDA-F6D7-F696-6D0F-B637D6ECF06F}"/>
              </a:ext>
            </a:extLst>
          </p:cNvPr>
          <p:cNvSpPr/>
          <p:nvPr/>
        </p:nvSpPr>
        <p:spPr>
          <a:xfrm rot="3301940">
            <a:off x="-927833" y="5887843"/>
            <a:ext cx="3684722" cy="2629947"/>
          </a:xfrm>
          <a:custGeom>
            <a:avLst/>
            <a:gdLst/>
            <a:ahLst/>
            <a:cxnLst/>
            <a:rect l="l" t="t" r="r" b="b"/>
            <a:pathLst>
              <a:path w="7092618" h="4797189">
                <a:moveTo>
                  <a:pt x="0" y="0"/>
                </a:moveTo>
                <a:lnTo>
                  <a:pt x="7092618" y="0"/>
                </a:lnTo>
                <a:lnTo>
                  <a:pt x="7092618" y="4797189"/>
                </a:lnTo>
                <a:lnTo>
                  <a:pt x="0" y="47971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21" y="0"/>
            <a:ext cx="12190358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800225"/>
            <a:ext cx="5286375" cy="633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dành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2708671"/>
            <a:ext cx="5000625" cy="633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sưu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nhạc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550443"/>
            <a:ext cx="5000625" cy="633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hát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4392215"/>
            <a:ext cx="5000625" cy="633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Thao tác thêm bài hát vào playlist hoặc xóa khỏi thư viện chỉ với một cú click chuột qua công nghệ AJAX mượt mà.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71500"/>
            <a:ext cx="11401425" cy="519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Gian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571500"/>
            <a:ext cx="57150" cy="6477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7721"/>
            <a:ext cx="180975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69493"/>
            <a:ext cx="180975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411265"/>
            <a:ext cx="180975" cy="2190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7B6683-211E-E4B7-E30F-D0227DE15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2135385"/>
            <a:ext cx="5761219" cy="2926334"/>
          </a:xfrm>
          <a:prstGeom prst="rect">
            <a:avLst/>
          </a:prstGeom>
        </p:spPr>
      </p:pic>
      <p:sp>
        <p:nvSpPr>
          <p:cNvPr id="3" name="Freeform 9">
            <a:extLst>
              <a:ext uri="{FF2B5EF4-FFF2-40B4-BE49-F238E27FC236}">
                <a16:creationId xmlns:a16="http://schemas.microsoft.com/office/drawing/2014/main" id="{9F4FCCF0-5392-A2A5-A78C-11F5AAACC5D8}"/>
              </a:ext>
            </a:extLst>
          </p:cNvPr>
          <p:cNvSpPr/>
          <p:nvPr/>
        </p:nvSpPr>
        <p:spPr>
          <a:xfrm rot="3301940">
            <a:off x="-927833" y="5887843"/>
            <a:ext cx="3684722" cy="2629947"/>
          </a:xfrm>
          <a:custGeom>
            <a:avLst/>
            <a:gdLst/>
            <a:ahLst/>
            <a:cxnLst/>
            <a:rect l="l" t="t" r="r" b="b"/>
            <a:pathLst>
              <a:path w="7092618" h="4797189">
                <a:moveTo>
                  <a:pt x="0" y="0"/>
                </a:moveTo>
                <a:lnTo>
                  <a:pt x="7092618" y="0"/>
                </a:lnTo>
                <a:lnTo>
                  <a:pt x="7092618" y="4797189"/>
                </a:lnTo>
                <a:lnTo>
                  <a:pt x="0" y="47971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21" y="0"/>
            <a:ext cx="12190358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6598" y="615076"/>
            <a:ext cx="5200650" cy="519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sz="3375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75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sz="3375" b="1" i="0" u="none" dirty="0">
              <a:solidFill>
                <a:srgbClr val="38BDF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500" y="762000"/>
            <a:ext cx="57150" cy="647700"/>
          </a:xfrm>
          <a:prstGeom prst="rect">
            <a:avLst/>
          </a:prstGeom>
          <a:solid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2222599"/>
            <a:ext cx="52006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r>
              <a:rPr sz="2700" b="0" i="0" u="none" dirty="0" err="1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sz="2700" b="0" i="0" u="none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b="0" i="0" u="none" dirty="0" err="1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sz="2700" b="0" i="0" u="none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(Admin)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936974"/>
            <a:ext cx="4953000" cy="633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dành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DataTables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dõi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132957"/>
            <a:ext cx="495300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CRUD (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Đọc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hát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(upload file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mp3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bìa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Danh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sĩ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78706F-B893-329B-5F45-0188B733E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372" y="1877851"/>
            <a:ext cx="6708628" cy="3102297"/>
          </a:xfrm>
          <a:prstGeom prst="rect">
            <a:avLst/>
          </a:prstGeom>
        </p:spPr>
      </p:pic>
      <p:sp>
        <p:nvSpPr>
          <p:cNvPr id="3" name="Freeform 9">
            <a:extLst>
              <a:ext uri="{FF2B5EF4-FFF2-40B4-BE49-F238E27FC236}">
                <a16:creationId xmlns:a16="http://schemas.microsoft.com/office/drawing/2014/main" id="{6E158C39-E9AB-96C6-ADCE-01D3B267B102}"/>
              </a:ext>
            </a:extLst>
          </p:cNvPr>
          <p:cNvSpPr/>
          <p:nvPr/>
        </p:nvSpPr>
        <p:spPr>
          <a:xfrm rot="3301940">
            <a:off x="-927833" y="5887843"/>
            <a:ext cx="3684722" cy="2629947"/>
          </a:xfrm>
          <a:custGeom>
            <a:avLst/>
            <a:gdLst/>
            <a:ahLst/>
            <a:cxnLst/>
            <a:rect l="l" t="t" r="r" b="b"/>
            <a:pathLst>
              <a:path w="7092618" h="4797189">
                <a:moveTo>
                  <a:pt x="0" y="0"/>
                </a:moveTo>
                <a:lnTo>
                  <a:pt x="7092618" y="0"/>
                </a:lnTo>
                <a:lnTo>
                  <a:pt x="7092618" y="4797189"/>
                </a:lnTo>
                <a:lnTo>
                  <a:pt x="0" y="47971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522C39-3519-7A89-27D6-13765BE38D55}"/>
              </a:ext>
            </a:extLst>
          </p:cNvPr>
          <p:cNvSpPr/>
          <p:nvPr/>
        </p:nvSpPr>
        <p:spPr>
          <a:xfrm>
            <a:off x="571500" y="571500"/>
            <a:ext cx="57150" cy="6477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BDC325AD-C72C-E501-D41F-E6FEA87C55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665" y="3068183"/>
            <a:ext cx="180975" cy="219075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99B549FB-C097-3321-2013-57F54E8CC9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392" y="4206328"/>
            <a:ext cx="18097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21" y="0"/>
            <a:ext cx="1219035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1013519"/>
            <a:ext cx="11601450" cy="1615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 dirty="0" err="1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sz="5250" b="1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525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5250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25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sz="5250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sz="525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sz="5250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25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sz="5250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25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endParaRPr sz="5250" b="1" i="0" u="none" dirty="0">
              <a:solidFill>
                <a:srgbClr val="38BDF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37769" y="3812157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4522367"/>
            <a:ext cx="7620000" cy="7950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sz="2800" b="0" i="0" u="none" dirty="0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i="0" u="none" dirty="0" err="1">
                <a:solidFill>
                  <a:srgbClr val="BAE6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</a:t>
            </a:r>
            <a:endParaRPr sz="2800" b="0" i="0" u="none" dirty="0">
              <a:solidFill>
                <a:srgbClr val="BAE6F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19">
            <a:extLst>
              <a:ext uri="{FF2B5EF4-FFF2-40B4-BE49-F238E27FC236}">
                <a16:creationId xmlns:a16="http://schemas.microsoft.com/office/drawing/2014/main" id="{57796C37-8854-0D76-B94D-259038086890}"/>
              </a:ext>
            </a:extLst>
          </p:cNvPr>
          <p:cNvSpPr/>
          <p:nvPr/>
        </p:nvSpPr>
        <p:spPr>
          <a:xfrm rot="2159446">
            <a:off x="9528488" y="-1443879"/>
            <a:ext cx="5743550" cy="3860460"/>
          </a:xfrm>
          <a:custGeom>
            <a:avLst/>
            <a:gdLst/>
            <a:ahLst/>
            <a:cxnLst/>
            <a:rect l="l" t="t" r="r" b="b"/>
            <a:pathLst>
              <a:path w="7814506" h="6308438">
                <a:moveTo>
                  <a:pt x="0" y="0"/>
                </a:moveTo>
                <a:lnTo>
                  <a:pt x="7814506" y="0"/>
                </a:lnTo>
                <a:lnTo>
                  <a:pt x="7814506" y="6308437"/>
                </a:lnTo>
                <a:lnTo>
                  <a:pt x="0" y="6308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090A52D-94B6-5DF7-B3CB-CFE15F9799B1}"/>
              </a:ext>
            </a:extLst>
          </p:cNvPr>
          <p:cNvSpPr/>
          <p:nvPr/>
        </p:nvSpPr>
        <p:spPr>
          <a:xfrm rot="543904">
            <a:off x="-221344" y="5243697"/>
            <a:ext cx="6585197" cy="3275530"/>
          </a:xfrm>
          <a:custGeom>
            <a:avLst/>
            <a:gdLst/>
            <a:ahLst/>
            <a:cxnLst/>
            <a:rect l="l" t="t" r="r" b="b"/>
            <a:pathLst>
              <a:path w="10103966" h="8156656">
                <a:moveTo>
                  <a:pt x="0" y="0"/>
                </a:moveTo>
                <a:lnTo>
                  <a:pt x="10103966" y="0"/>
                </a:lnTo>
                <a:lnTo>
                  <a:pt x="10103966" y="8156656"/>
                </a:lnTo>
                <a:lnTo>
                  <a:pt x="0" y="815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21" y="0"/>
            <a:ext cx="12190358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84374"/>
            <a:ext cx="3429000" cy="551795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184374"/>
            <a:ext cx="3429000" cy="551795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184374"/>
            <a:ext cx="3429000" cy="551795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1574899"/>
            <a:ext cx="952500" cy="952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94194" y="2765524"/>
            <a:ext cx="138361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sz="2400" b="1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0" u="none" dirty="0" err="1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endParaRPr sz="2400" b="1" i="0" u="none" dirty="0">
              <a:solidFill>
                <a:srgbClr val="38BDF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6775" y="3365599"/>
            <a:ext cx="2838450" cy="2346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(Dark Theme)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thoải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code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rành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0" y="1574899"/>
            <a:ext cx="952500" cy="952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57951" y="2765524"/>
            <a:ext cx="127609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 dirty="0" err="1">
                <a:solidFill>
                  <a:srgbClr val="FDBA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sz="2400" b="1" i="0" u="none" dirty="0">
                <a:solidFill>
                  <a:srgbClr val="FDBA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0" u="none" dirty="0" err="1">
                <a:solidFill>
                  <a:srgbClr val="FDBA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endParaRPr sz="2400" b="1" i="0" u="none" dirty="0">
              <a:solidFill>
                <a:srgbClr val="FDBA7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6775" y="3365599"/>
            <a:ext cx="2838450" cy="2010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dừng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triệt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UX.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9750" y="1574899"/>
            <a:ext cx="952500" cy="952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15813" y="2765524"/>
            <a:ext cx="298037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 dirty="0" err="1">
                <a:solidFill>
                  <a:srgbClr val="86EF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sz="2400" b="1" i="0" u="none" dirty="0">
                <a:solidFill>
                  <a:srgbClr val="86EF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0" u="none" dirty="0" err="1">
                <a:solidFill>
                  <a:srgbClr val="86EF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sz="2400" b="1" i="0" u="none" dirty="0">
                <a:solidFill>
                  <a:srgbClr val="86EF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0" u="none" dirty="0" err="1">
                <a:solidFill>
                  <a:srgbClr val="86EF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sz="2400" b="1" i="0" u="none" dirty="0">
                <a:solidFill>
                  <a:srgbClr val="86EF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0" u="none" dirty="0" err="1">
                <a:solidFill>
                  <a:srgbClr val="86EF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endParaRPr sz="2400" b="1" i="0" u="none" dirty="0">
              <a:solidFill>
                <a:srgbClr val="86EFA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52120" y="3429000"/>
            <a:ext cx="2838450" cy="19716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Nắm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vững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ASP.NET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thạo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LINQ,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CSDL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SQL Server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UI (Bootstrap, jQuery)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165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4062" y="1789211"/>
            <a:ext cx="523875" cy="523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4062" y="1789211"/>
            <a:ext cx="523875" cy="523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7387" y="1789211"/>
            <a:ext cx="657225" cy="523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2000" y="155674"/>
            <a:ext cx="11401425" cy="519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 Giá Tổng Quan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55674"/>
            <a:ext cx="57150" cy="6477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reeform 9">
            <a:extLst>
              <a:ext uri="{FF2B5EF4-FFF2-40B4-BE49-F238E27FC236}">
                <a16:creationId xmlns:a16="http://schemas.microsoft.com/office/drawing/2014/main" id="{A275EC8C-E59D-CB02-2006-C1C60C59D957}"/>
              </a:ext>
            </a:extLst>
          </p:cNvPr>
          <p:cNvSpPr/>
          <p:nvPr/>
        </p:nvSpPr>
        <p:spPr>
          <a:xfrm rot="3301940">
            <a:off x="-927833" y="5887843"/>
            <a:ext cx="3684722" cy="2629947"/>
          </a:xfrm>
          <a:custGeom>
            <a:avLst/>
            <a:gdLst/>
            <a:ahLst/>
            <a:cxnLst/>
            <a:rect l="l" t="t" r="r" b="b"/>
            <a:pathLst>
              <a:path w="7092618" h="4797189">
                <a:moveTo>
                  <a:pt x="0" y="0"/>
                </a:moveTo>
                <a:lnTo>
                  <a:pt x="7092618" y="0"/>
                </a:lnTo>
                <a:lnTo>
                  <a:pt x="7092618" y="4797189"/>
                </a:lnTo>
                <a:lnTo>
                  <a:pt x="0" y="47971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21" y="0"/>
            <a:ext cx="12190358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1317873"/>
            <a:ext cx="9525000" cy="1559867"/>
          </a:xfrm>
          <a:prstGeom prst="roundRect">
            <a:avLst>
              <a:gd name="adj" fmla="val 732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95500" y="1555998"/>
            <a:ext cx="84772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7DD3FC"/>
                </a:solidFill>
                <a:latin typeface="Inter SemiBold"/>
              </a:rPr>
              <a:t>Xây</a:t>
            </a:r>
            <a:r>
              <a:rPr sz="1650" b="0" i="0" u="none" dirty="0">
                <a:solidFill>
                  <a:srgbClr val="7DD3FC"/>
                </a:solidFill>
                <a:latin typeface="Inter SemiBold"/>
              </a:rPr>
              <a:t> </a:t>
            </a:r>
            <a:r>
              <a:rPr sz="1650" b="0" i="0" u="none" dirty="0" err="1">
                <a:solidFill>
                  <a:srgbClr val="7DD3FC"/>
                </a:solidFill>
                <a:latin typeface="Inter SemiBold"/>
              </a:rPr>
              <a:t>Dựng</a:t>
            </a:r>
            <a:r>
              <a:rPr sz="1650" b="0" i="0" u="none" dirty="0">
                <a:solidFill>
                  <a:srgbClr val="7DD3FC"/>
                </a:solidFill>
                <a:latin typeface="Inter SemiBold"/>
              </a:rPr>
              <a:t> </a:t>
            </a:r>
            <a:r>
              <a:rPr sz="1650" b="0" i="0" u="none" dirty="0" err="1">
                <a:solidFill>
                  <a:srgbClr val="7DD3FC"/>
                </a:solidFill>
                <a:latin typeface="Inter SemiBold"/>
              </a:rPr>
              <a:t>Bảng</a:t>
            </a:r>
            <a:r>
              <a:rPr sz="1650" b="0" i="0" u="none" dirty="0">
                <a:solidFill>
                  <a:srgbClr val="7DD3FC"/>
                </a:solidFill>
                <a:latin typeface="Inter SemiBold"/>
              </a:rPr>
              <a:t> </a:t>
            </a:r>
            <a:r>
              <a:rPr sz="1650" b="0" i="0" u="none" dirty="0" err="1">
                <a:solidFill>
                  <a:srgbClr val="7DD3FC"/>
                </a:solidFill>
                <a:latin typeface="Inter SemiBold"/>
              </a:rPr>
              <a:t>Xếp</a:t>
            </a:r>
            <a:r>
              <a:rPr sz="1650" b="0" i="0" u="none" dirty="0">
                <a:solidFill>
                  <a:srgbClr val="7DD3FC"/>
                </a:solidFill>
                <a:latin typeface="Inter SemiBold"/>
              </a:rPr>
              <a:t> </a:t>
            </a:r>
            <a:r>
              <a:rPr sz="1650" b="0" i="0" u="none" dirty="0" err="1">
                <a:solidFill>
                  <a:srgbClr val="7DD3FC"/>
                </a:solidFill>
                <a:latin typeface="Inter SemiBold"/>
              </a:rPr>
              <a:t>Hạng</a:t>
            </a:r>
            <a:r>
              <a:rPr sz="1650" b="0" i="0" u="none" dirty="0">
                <a:solidFill>
                  <a:srgbClr val="7DD3FC"/>
                </a:solidFill>
                <a:latin typeface="Inter SemiBold"/>
              </a:rPr>
              <a:t> (Charts)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Hệ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thống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sẽ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thống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kê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lượt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nghe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,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lượt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thích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để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tạo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ra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các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bảng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xếp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hạng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âm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nhạc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(Top 100, Trending)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theo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tuần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, </a:t>
            </a:r>
            <a:r>
              <a:rPr sz="1650" b="0" i="0" u="none" dirty="0" err="1">
                <a:solidFill>
                  <a:srgbClr val="E2E8F0"/>
                </a:solidFill>
                <a:latin typeface="Inter"/>
              </a:rPr>
              <a:t>tháng</a:t>
            </a:r>
            <a:r>
              <a:rPr sz="1650" b="0" i="0" u="none" dirty="0">
                <a:solidFill>
                  <a:srgbClr val="E2E8F0"/>
                </a:solidFill>
                <a:latin typeface="Inter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33500" y="1317873"/>
            <a:ext cx="38100" cy="1559867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33500" y="3068240"/>
            <a:ext cx="9525000" cy="1559867"/>
          </a:xfrm>
          <a:prstGeom prst="roundRect">
            <a:avLst>
              <a:gd name="adj" fmla="val 732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95500" y="3306365"/>
            <a:ext cx="84772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7DD3FC"/>
                </a:solidFill>
                <a:latin typeface="Inter SemiBold"/>
              </a:rPr>
              <a:t>Tính Năng Mạng Xã Hội</a:t>
            </a:r>
            <a:r>
              <a:rPr sz="1650" b="0" i="0" u="none">
                <a:solidFill>
                  <a:srgbClr val="E2E8F0"/>
                </a:solidFill>
                <a:latin typeface="Inter"/>
              </a:rPr>
              <a:t> Cho phép người dùng kết bạn, chia sẻ Playlist yêu thích lên các nền tảng mạng xã hội lớn hoặc bình luận dưới mỗi bài hát.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3500" y="3068240"/>
            <a:ext cx="38100" cy="1559867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333500" y="4818608"/>
            <a:ext cx="9525000" cy="1559867"/>
          </a:xfrm>
          <a:prstGeom prst="roundRect">
            <a:avLst>
              <a:gd name="adj" fmla="val 732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95500" y="5056733"/>
            <a:ext cx="84772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7DD3FC"/>
                </a:solidFill>
                <a:latin typeface="Inter SemiBold"/>
              </a:rPr>
              <a:t>Đề Xuất Nhạc Thông Minh &amp; Nâng Cấp UX</a:t>
            </a:r>
            <a:r>
              <a:rPr sz="1650" b="0" i="0" u="none">
                <a:solidFill>
                  <a:srgbClr val="E2E8F0"/>
                </a:solidFill>
                <a:latin typeface="Inter"/>
              </a:rPr>
              <a:t> Ứng dụng thuật toán gợi ý bài hát dựa trên thói quen nghe nhạc, đồng thời cải thiện giao diện tương tác mượt mà hơn nữa.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4818608"/>
            <a:ext cx="38100" cy="1559867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725" y="1950094"/>
            <a:ext cx="247650" cy="2952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725" y="3700462"/>
            <a:ext cx="247650" cy="2952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9725" y="5450830"/>
            <a:ext cx="323850" cy="2952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289173"/>
            <a:ext cx="1140142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0" i="0" u="none">
                <a:solidFill>
                  <a:srgbClr val="38BDF8"/>
                </a:solidFill>
                <a:latin typeface="Poppins SemiBold"/>
              </a:rPr>
              <a:t>Hướng Phát Triển Tương Lai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289173"/>
            <a:ext cx="57150" cy="6477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91DEEC3C-DA6F-5EB1-D81D-4919FC82AB90}"/>
              </a:ext>
            </a:extLst>
          </p:cNvPr>
          <p:cNvSpPr/>
          <p:nvPr/>
        </p:nvSpPr>
        <p:spPr>
          <a:xfrm rot="3301940">
            <a:off x="-927833" y="5887843"/>
            <a:ext cx="3684722" cy="2629947"/>
          </a:xfrm>
          <a:custGeom>
            <a:avLst/>
            <a:gdLst/>
            <a:ahLst/>
            <a:cxnLst/>
            <a:rect l="l" t="t" r="r" b="b"/>
            <a:pathLst>
              <a:path w="7092618" h="4797189">
                <a:moveTo>
                  <a:pt x="0" y="0"/>
                </a:moveTo>
                <a:lnTo>
                  <a:pt x="7092618" y="0"/>
                </a:lnTo>
                <a:lnTo>
                  <a:pt x="7092618" y="4797189"/>
                </a:lnTo>
                <a:lnTo>
                  <a:pt x="0" y="4797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728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1839217"/>
            <a:ext cx="11601450" cy="1038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0" b="1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</a:t>
            </a:r>
            <a:r>
              <a:rPr sz="6750" b="1" i="0" u="none" dirty="0" err="1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Chân</a:t>
            </a:r>
            <a:r>
              <a:rPr sz="6750" b="1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Thành </a:t>
            </a:r>
            <a:r>
              <a:rPr sz="6750" b="1" i="0" u="none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sz="6750" b="1" i="0" u="none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750" b="1" i="0" u="none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endParaRPr sz="6750" b="1" i="0" u="none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3325116"/>
            <a:ext cx="11140602" cy="398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 dirty="0" err="1">
                <a:solidFill>
                  <a:srgbClr val="BAE6FD"/>
                </a:solidFill>
                <a:latin typeface="Inter"/>
              </a:rPr>
              <a:t>Quý</a:t>
            </a:r>
            <a:r>
              <a:rPr sz="2100" b="0" i="0" u="none" dirty="0">
                <a:solidFill>
                  <a:srgbClr val="BAE6FD"/>
                </a:solidFill>
                <a:latin typeface="Inter"/>
              </a:rPr>
              <a:t> </a:t>
            </a:r>
            <a:r>
              <a:rPr sz="2100" b="0" i="0" u="none" dirty="0" err="1">
                <a:solidFill>
                  <a:srgbClr val="BAE6FD"/>
                </a:solidFill>
                <a:latin typeface="Inter"/>
              </a:rPr>
              <a:t>Thầy</a:t>
            </a:r>
            <a:r>
              <a:rPr sz="2100" b="0" i="0" u="none" dirty="0">
                <a:solidFill>
                  <a:srgbClr val="BAE6FD"/>
                </a:solidFill>
                <a:latin typeface="Inter"/>
              </a:rPr>
              <a:t>/</a:t>
            </a:r>
            <a:r>
              <a:rPr sz="2100" b="0" i="0" u="none" dirty="0" err="1">
                <a:solidFill>
                  <a:srgbClr val="BAE6FD"/>
                </a:solidFill>
                <a:latin typeface="Inter"/>
              </a:rPr>
              <a:t>Cô</a:t>
            </a:r>
            <a:r>
              <a:rPr sz="2100" b="0" i="0" u="none" dirty="0">
                <a:solidFill>
                  <a:srgbClr val="BAE6FD"/>
                </a:solidFill>
                <a:latin typeface="Inter"/>
              </a:rPr>
              <a:t> </a:t>
            </a:r>
            <a:r>
              <a:rPr sz="2100" b="0" i="0" u="none" dirty="0" err="1">
                <a:solidFill>
                  <a:srgbClr val="BAE6FD"/>
                </a:solidFill>
                <a:latin typeface="Inter"/>
              </a:rPr>
              <a:t>đã</a:t>
            </a:r>
            <a:r>
              <a:rPr sz="2100" b="0" i="0" u="none" dirty="0">
                <a:solidFill>
                  <a:srgbClr val="BAE6FD"/>
                </a:solidFill>
                <a:latin typeface="Inter"/>
              </a:rPr>
              <a:t> </a:t>
            </a:r>
            <a:r>
              <a:rPr sz="2100" b="0" i="0" u="none" dirty="0" err="1">
                <a:solidFill>
                  <a:srgbClr val="BAE6FD"/>
                </a:solidFill>
                <a:latin typeface="Inter"/>
              </a:rPr>
              <a:t>theo</a:t>
            </a:r>
            <a:r>
              <a:rPr sz="2100" b="0" i="0" u="none" dirty="0">
                <a:solidFill>
                  <a:srgbClr val="BAE6FD"/>
                </a:solidFill>
                <a:latin typeface="Inter"/>
              </a:rPr>
              <a:t> </a:t>
            </a:r>
            <a:r>
              <a:rPr sz="2100" b="0" i="0" u="none" dirty="0" err="1">
                <a:solidFill>
                  <a:srgbClr val="BAE6FD"/>
                </a:solidFill>
                <a:latin typeface="Inter"/>
              </a:rPr>
              <a:t>dõi</a:t>
            </a:r>
            <a:r>
              <a:rPr sz="2100" b="0" i="0" u="none" dirty="0">
                <a:solidFill>
                  <a:srgbClr val="BAE6FD"/>
                </a:solidFill>
                <a:latin typeface="Inter"/>
              </a:rPr>
              <a:t> </a:t>
            </a:r>
            <a:r>
              <a:rPr sz="2100" b="0" i="0" u="none" dirty="0" err="1">
                <a:solidFill>
                  <a:srgbClr val="BAE6FD"/>
                </a:solidFill>
                <a:latin typeface="Inter"/>
              </a:rPr>
              <a:t>phần</a:t>
            </a:r>
            <a:r>
              <a:rPr sz="2100" b="0" i="0" u="none" dirty="0">
                <a:solidFill>
                  <a:srgbClr val="BAE6FD"/>
                </a:solidFill>
                <a:latin typeface="Inter"/>
              </a:rPr>
              <a:t> </a:t>
            </a:r>
            <a:r>
              <a:rPr sz="2100" b="0" i="0" u="none" dirty="0" err="1">
                <a:solidFill>
                  <a:srgbClr val="BAE6FD"/>
                </a:solidFill>
                <a:latin typeface="Inter"/>
              </a:rPr>
              <a:t>trình</a:t>
            </a:r>
            <a:r>
              <a:rPr sz="2100" b="0" i="0" u="none" dirty="0">
                <a:solidFill>
                  <a:srgbClr val="BAE6FD"/>
                </a:solidFill>
                <a:latin typeface="Inter"/>
              </a:rPr>
              <a:t> </a:t>
            </a:r>
            <a:r>
              <a:rPr sz="2100" b="0" i="0" u="none" dirty="0" err="1">
                <a:solidFill>
                  <a:srgbClr val="BAE6FD"/>
                </a:solidFill>
                <a:latin typeface="Inter"/>
              </a:rPr>
              <a:t>bày</a:t>
            </a:r>
            <a:r>
              <a:rPr sz="2100" b="0" i="0" u="none" dirty="0">
                <a:solidFill>
                  <a:srgbClr val="BAE6FD"/>
                </a:solidFill>
                <a:latin typeface="Inter"/>
              </a:rPr>
              <a:t>.</a:t>
            </a:r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B1E7E888-8DE5-1700-2DD1-401CCFFCD163}"/>
              </a:ext>
            </a:extLst>
          </p:cNvPr>
          <p:cNvSpPr/>
          <p:nvPr/>
        </p:nvSpPr>
        <p:spPr>
          <a:xfrm rot="19665358">
            <a:off x="1768073" y="4149885"/>
            <a:ext cx="9564878" cy="3124048"/>
          </a:xfrm>
          <a:custGeom>
            <a:avLst/>
            <a:gdLst/>
            <a:ahLst/>
            <a:cxnLst/>
            <a:rect l="l" t="t" r="r" b="b"/>
            <a:pathLst>
              <a:path w="16909587" h="6118196">
                <a:moveTo>
                  <a:pt x="0" y="0"/>
                </a:moveTo>
                <a:lnTo>
                  <a:pt x="16909587" y="0"/>
                </a:lnTo>
                <a:lnTo>
                  <a:pt x="16909587" y="6118196"/>
                </a:lnTo>
                <a:lnTo>
                  <a:pt x="0" y="61181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1281</Words>
  <Application>Microsoft Office PowerPoint</Application>
  <PresentationFormat>Widescreen</PresentationFormat>
  <Paragraphs>72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Inter</vt:lpstr>
      <vt:lpstr>Inter SemiBold</vt:lpstr>
      <vt:lpstr>Poppins SemiBold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ADMIN-PC</dc:creator>
  <cp:keywords/>
  <dc:description>generated using python-pptx</dc:description>
  <cp:lastModifiedBy>Administrator</cp:lastModifiedBy>
  <cp:revision>6</cp:revision>
  <dcterms:created xsi:type="dcterms:W3CDTF">2013-01-27T09:14:16Z</dcterms:created>
  <dcterms:modified xsi:type="dcterms:W3CDTF">2026-08-05T15:03:13Z</dcterms:modified>
  <cp:category/>
</cp:coreProperties>
</file>